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01400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2500" b="1">
                <a:solidFill>
                  <a:srgbClr val="172B45"/>
                </a:solidFill>
                <a:latin typeface="Arial"/>
              </a:rPr>
              <a:t>Revenue quality depends on trading engagement, earning balances, and expense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201400" cy="18288"/>
          </a:xfrm>
          <a:prstGeom prst="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5C6B79"/>
                </a:solidFill>
                <a:latin typeface="Arial"/>
              </a:rPr>
              <a:t>Sources: SEC filings; Robinhood releases; audited analyst model. Forecasts are not company guidance.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83096"/>
            <a:ext cx="36576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C6B79"/>
                </a:solidFill>
                <a:latin typeface="Arial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72768"/>
            <a:ext cx="3383280" cy="1143000"/>
          </a:xfrm>
          <a:prstGeom prst="round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64208"/>
            <a:ext cx="30632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C6B79"/>
                </a:solidFill>
                <a:latin typeface="Arial"/>
              </a:rPr>
              <a:t>2027 BASE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29384"/>
            <a:ext cx="3063240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2300" b="1">
                <a:solidFill>
                  <a:srgbClr val="087E8B"/>
                </a:solidFill>
                <a:latin typeface="Arial"/>
              </a:rPr>
              <a:t>$5.87b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450591"/>
            <a:ext cx="30632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C6B79"/>
                </a:solidFill>
                <a:latin typeface="Arial"/>
              </a:rPr>
              <a:t>Analyst forecast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572768"/>
            <a:ext cx="3383280" cy="1143000"/>
          </a:xfrm>
          <a:prstGeom prst="round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64208"/>
            <a:ext cx="30632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C6B79"/>
                </a:solidFill>
                <a:latin typeface="Arial"/>
              </a:rPr>
              <a:t>2027 OPERATING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29384"/>
            <a:ext cx="3063240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2300" b="1">
                <a:solidFill>
                  <a:srgbClr val="087E8B"/>
                </a:solidFill>
                <a:latin typeface="Arial"/>
              </a:rPr>
              <a:t>43.5%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50591"/>
            <a:ext cx="30632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C6B79"/>
                </a:solidFill>
                <a:latin typeface="Arial"/>
              </a:rPr>
              <a:t>GAAP analyst forecast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572768"/>
            <a:ext cx="3383280" cy="1143000"/>
          </a:xfrm>
          <a:prstGeom prst="round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664208"/>
            <a:ext cx="30632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C6B79"/>
                </a:solidFill>
                <a:latin typeface="Arial"/>
              </a:rPr>
              <a:t>2027 SCENARIO 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929384"/>
            <a:ext cx="3063240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2300" b="1">
                <a:solidFill>
                  <a:srgbClr val="087E8B"/>
                </a:solidFill>
                <a:latin typeface="Arial"/>
              </a:rPr>
              <a:t>$4.41–6.74b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450591"/>
            <a:ext cx="30632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C6B79"/>
                </a:solidFill>
                <a:latin typeface="Arial"/>
              </a:rPr>
              <a:t>Downside to Upside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255264"/>
            <a:ext cx="73152" cy="7315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136392"/>
            <a:ext cx="10588752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700" b="0">
                <a:solidFill>
                  <a:srgbClr val="1D2733"/>
                </a:solidFill>
                <a:latin typeface="Arial"/>
              </a:rPr>
              <a:t>Measured 2024 comparable-product activity contributed $621m of $862m transaction growth.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078224"/>
            <a:ext cx="73152" cy="7315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959352"/>
            <a:ext cx="10588752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700" b="0">
                <a:solidFill>
                  <a:srgbClr val="1D2733"/>
                </a:solidFill>
                <a:latin typeface="Arial"/>
              </a:rPr>
              <a:t>2027 Base interest/balance revenue is 36% of total; disclosed Gold is only 4.5%.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901184"/>
            <a:ext cx="73152" cy="7315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782312"/>
            <a:ext cx="10588752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700" b="0">
                <a:solidFill>
                  <a:srgbClr val="1D2733"/>
                </a:solidFill>
                <a:latin typeface="Arial"/>
              </a:rPr>
              <a:t>Base margin depends on revenue rising faster than the six-category expense plan.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806440"/>
            <a:ext cx="1088136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A93A3A"/>
                </a:solidFill>
                <a:latin typeface="Arial"/>
              </a:rPr>
              <a:t>Major risk: trading or crypto normalization alongside weaker realized yields.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01400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2500" b="1">
                <a:solidFill>
                  <a:srgbClr val="172B45"/>
                </a:solidFill>
                <a:latin typeface="Arial"/>
              </a:rPr>
              <a:t>Revenue rose 52% in 2025 as customers and assets expanded; expense commitments are rising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201400" cy="18288"/>
          </a:xfrm>
          <a:prstGeom prst="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5C6B79"/>
                </a:solidFill>
                <a:latin typeface="Arial"/>
              </a:rPr>
              <a:t>Sources: FY 2025 10-K/A; Q2 2026 10-Q; Phase 3 historical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83096"/>
            <a:ext cx="36576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C6B79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1D2733"/>
                </a:solidFill>
                <a:latin typeface="Arial"/>
              </a:rPr>
              <a:t>2023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719072"/>
            <a:ext cx="5212080" cy="201168"/>
          </a:xfrm>
          <a:prstGeom prst="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719072"/>
            <a:ext cx="1944105" cy="20116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45552" y="1682496"/>
            <a:ext cx="146304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D2733"/>
                </a:solidFill>
                <a:latin typeface="Arial"/>
              </a:rPr>
              <a:t>$1.86b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41448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1D2733"/>
                </a:solidFill>
                <a:latin typeface="Arial"/>
              </a:rPr>
              <a:t>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2468879"/>
            <a:ext cx="5212080" cy="201168"/>
          </a:xfrm>
          <a:prstGeom prst="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0" y="2468879"/>
            <a:ext cx="3076169" cy="20116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45552" y="2432304"/>
            <a:ext cx="146304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D2733"/>
                </a:solidFill>
                <a:latin typeface="Arial"/>
              </a:rPr>
              <a:t>$2.95b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91256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1D2733"/>
                </a:solidFill>
                <a:latin typeface="Arial"/>
              </a:rPr>
              <a:t>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3218688"/>
            <a:ext cx="5212080" cy="201168"/>
          </a:xfrm>
          <a:prstGeom prst="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0" y="3218688"/>
            <a:ext cx="4662726" cy="20116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3182112"/>
            <a:ext cx="146304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D2733"/>
                </a:solidFill>
                <a:latin typeface="Arial"/>
              </a:rPr>
              <a:t>$4.47b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43400"/>
            <a:ext cx="3383280" cy="1143000"/>
          </a:xfrm>
          <a:prstGeom prst="round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434840"/>
            <a:ext cx="30632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C6B79"/>
                </a:solidFill>
                <a:latin typeface="Arial"/>
              </a:rPr>
              <a:t>2026 Q2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700016"/>
            <a:ext cx="3063240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2300" b="1">
                <a:solidFill>
                  <a:srgbClr val="087E8B"/>
                </a:solidFill>
                <a:latin typeface="Arial"/>
              </a:rPr>
              <a:t>$1.31b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221224"/>
            <a:ext cx="30632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C6B79"/>
                </a:solidFill>
                <a:latin typeface="Arial"/>
              </a:rPr>
              <a:t>Reported quarter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4343400"/>
            <a:ext cx="3383280" cy="1143000"/>
          </a:xfrm>
          <a:prstGeom prst="round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4434840"/>
            <a:ext cx="30632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C6B79"/>
                </a:solidFill>
                <a:latin typeface="Arial"/>
              </a:rPr>
              <a:t>FUNDED CUSTOMERS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700016"/>
            <a:ext cx="3063240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2300" b="1">
                <a:solidFill>
                  <a:srgbClr val="087E8B"/>
                </a:solidFill>
                <a:latin typeface="Arial"/>
              </a:rPr>
              <a:t>28.4m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5221224"/>
            <a:ext cx="30632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C6B79"/>
                </a:solidFill>
                <a:latin typeface="Arial"/>
              </a:rPr>
              <a:t>2026 Q2 reported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4343400"/>
            <a:ext cx="3383280" cy="1143000"/>
          </a:xfrm>
          <a:prstGeom prst="round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7" y="4434840"/>
            <a:ext cx="30632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C6B79"/>
                </a:solidFill>
                <a:latin typeface="Arial"/>
              </a:rPr>
              <a:t>PLATFORM ASSETS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4700016"/>
            <a:ext cx="3063240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2300" b="1">
                <a:solidFill>
                  <a:srgbClr val="087E8B"/>
                </a:solidFill>
                <a:latin typeface="Arial"/>
              </a:rPr>
              <a:t>$368.7b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7" y="5221224"/>
            <a:ext cx="30632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C6B79"/>
                </a:solidFill>
                <a:latin typeface="Arial"/>
              </a:rPr>
              <a:t>2026 Q2 reported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715000"/>
            <a:ext cx="1069848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C6B79"/>
                </a:solidFill>
                <a:latin typeface="Arial"/>
              </a:rPr>
              <a:t>2026 is two reported quarters plus two forecast quarters; it is not a reported full year.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01400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2500" b="1">
                <a:solidFill>
                  <a:srgbClr val="172B45"/>
                </a:solidFill>
                <a:latin typeface="Arial"/>
              </a:rPr>
              <a:t>Measured trading activity drove most 2024 transaction growth, with later scope less comparable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201400" cy="18288"/>
          </a:xfrm>
          <a:prstGeom prst="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5C6B79"/>
                </a:solidFill>
                <a:latin typeface="Arial"/>
              </a:rPr>
              <a:t>Sources: Phase 3 exact transaction-revenue bridge; 2025 10-K/A.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83096"/>
            <a:ext cx="36576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C6B79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1D2733"/>
                </a:solidFill>
                <a:latin typeface="Arial"/>
              </a:rPr>
              <a:t>Activity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719072"/>
            <a:ext cx="5303520" cy="201168"/>
          </a:xfrm>
          <a:prstGeom prst="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719072"/>
            <a:ext cx="3819518" cy="20116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6992" y="1682496"/>
            <a:ext cx="146304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D2733"/>
                </a:solidFill>
                <a:latin typeface="Arial"/>
              </a:rPr>
              <a:t>$621m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1D2733"/>
                </a:solidFill>
                <a:latin typeface="Arial"/>
              </a:rPr>
              <a:t>Other effects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2542032"/>
            <a:ext cx="5303520" cy="201168"/>
          </a:xfrm>
          <a:prstGeom prst="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0" y="2542032"/>
            <a:ext cx="1484001" cy="201168"/>
          </a:xfrm>
          <a:prstGeom prst="rect">
            <a:avLst/>
          </a:prstGeom>
          <a:solidFill>
            <a:srgbClr val="5C6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36992" y="2505456"/>
            <a:ext cx="146304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D2733"/>
                </a:solidFill>
                <a:latin typeface="Arial"/>
              </a:rPr>
              <a:t>$241m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02152"/>
            <a:ext cx="1069848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72B45"/>
                </a:solidFill>
                <a:latin typeface="Arial"/>
              </a:rPr>
              <a:t>$862m total 2024 vs 2023 transaction-revenue increase; bridge reconciles exactly.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471416"/>
            <a:ext cx="73152" cy="7315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352544"/>
            <a:ext cx="10680192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1D2733"/>
                </a:solidFill>
                <a:latin typeface="Arial"/>
              </a:rPr>
              <a:t>Customer scale and monetization contribute, but measured activity dominates this comparison.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193792"/>
            <a:ext cx="73152" cy="7315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074920"/>
            <a:ext cx="10680192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1D2733"/>
                </a:solidFill>
                <a:latin typeface="Arial"/>
              </a:rPr>
              <a:t>The 2025 bridge retains new products and acquisitions in an explicit residual.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01400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2500" b="1">
                <a:solidFill>
                  <a:srgbClr val="172B45"/>
                </a:solidFill>
                <a:latin typeface="Arial"/>
              </a:rPr>
              <a:t>Assets grew faster than customers, but acquisitions and market moves limit organic inference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201400" cy="18288"/>
          </a:xfrm>
          <a:prstGeom prst="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5C6B79"/>
                </a:solidFill>
                <a:latin typeface="Arial"/>
              </a:rPr>
              <a:t>Sources: FY 2025 10-K/A; Phase 3 monetization table; acquisition adjustments described in structural breaks.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83096"/>
            <a:ext cx="36576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C6B79"/>
                </a:solidFill>
                <a:latin typeface="Arial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3383280" cy="1143000"/>
          </a:xfrm>
          <a:prstGeom prst="round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719072"/>
            <a:ext cx="30632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C6B79"/>
                </a:solidFill>
                <a:latin typeface="Arial"/>
              </a:rPr>
              <a:t>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1984248"/>
            <a:ext cx="3063240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2300" b="1">
                <a:solidFill>
                  <a:srgbClr val="087E8B"/>
                </a:solidFill>
                <a:latin typeface="Arial"/>
              </a:rPr>
              <a:t>23.4m → 27.0m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505456"/>
            <a:ext cx="30632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C6B79"/>
                </a:solidFill>
                <a:latin typeface="Arial"/>
              </a:rPr>
              <a:t>2023 Q4 to 2025 Q4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627632"/>
            <a:ext cx="3383280" cy="1143000"/>
          </a:xfrm>
          <a:prstGeom prst="round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719072"/>
            <a:ext cx="30632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C6B79"/>
                </a:solidFill>
                <a:latin typeface="Arial"/>
              </a:rPr>
              <a:t>PLATFORM ASSETS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84248"/>
            <a:ext cx="3063240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2300" b="1">
                <a:solidFill>
                  <a:srgbClr val="087E8B"/>
                </a:solidFill>
                <a:latin typeface="Arial"/>
              </a:rPr>
              <a:t>$103b → $322b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505456"/>
            <a:ext cx="30632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C6B79"/>
                </a:solidFill>
                <a:latin typeface="Arial"/>
              </a:rPr>
              <a:t>Revised 2025 Q4: $322.1b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27632"/>
            <a:ext cx="3383280" cy="1143000"/>
          </a:xfrm>
          <a:prstGeom prst="round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719072"/>
            <a:ext cx="30632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C6B79"/>
                </a:solidFill>
                <a:latin typeface="Arial"/>
              </a:rPr>
              <a:t>ASSETS / CUSTOMER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984248"/>
            <a:ext cx="3063240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2300" b="1">
                <a:solidFill>
                  <a:srgbClr val="087E8B"/>
                </a:solidFill>
                <a:latin typeface="Arial"/>
              </a:rPr>
              <a:t>$4,385 → $11,930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505456"/>
            <a:ext cx="30632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C6B79"/>
                </a:solidFill>
                <a:latin typeface="Arial"/>
              </a:rPr>
              <a:t>Derived; rounded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374136"/>
            <a:ext cx="73152" cy="7315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255264"/>
            <a:ext cx="10680192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1D2733"/>
                </a:solidFill>
                <a:latin typeface="Arial"/>
              </a:rPr>
              <a:t>Customer assets rose more rapidly than funded customers, creating more balance potential.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224528"/>
            <a:ext cx="73152" cy="7315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105656"/>
            <a:ext cx="10680192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1D2733"/>
                </a:solidFill>
                <a:latin typeface="Arial"/>
              </a:rPr>
              <a:t>Reported asset growth includes acquisitions and market value changes; it is not organic deposits.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084064"/>
            <a:ext cx="73152" cy="7315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965192"/>
            <a:ext cx="10680192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1D2733"/>
                </a:solidFill>
                <a:latin typeface="Arial"/>
              </a:rPr>
              <a:t>The forecast links only captured earning balances and activity to revenue, not all platform assets.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01400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2500" b="1">
                <a:solidFill>
                  <a:srgbClr val="172B45"/>
                </a:solidFill>
                <a:latin typeface="Arial"/>
              </a:rPr>
              <a:t>Base reaches $5.87b 2027 revenue at 43.5% margin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201400" cy="18288"/>
          </a:xfrm>
          <a:prstGeom prst="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5C6B79"/>
                </a:solidFill>
                <a:latin typeface="Arial"/>
              </a:rPr>
              <a:t>Sources: audited Base/Upside/Downside operating model; 2026 is mixed actual/forecast.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83096"/>
            <a:ext cx="36576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C6B79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00784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1D2733"/>
                </a:solidFill>
                <a:latin typeface="Arial"/>
              </a:rPr>
              <a:t>Downside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39" y="1728216"/>
            <a:ext cx="5120640" cy="201168"/>
          </a:xfrm>
          <a:prstGeom prst="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06039" y="1728216"/>
            <a:ext cx="2820677" cy="201168"/>
          </a:xfrm>
          <a:prstGeom prst="rect">
            <a:avLst/>
          </a:prstGeom>
          <a:solidFill>
            <a:srgbClr val="5C6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9831" y="1691640"/>
            <a:ext cx="146304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D2733"/>
                </a:solidFill>
                <a:latin typeface="Arial"/>
              </a:rPr>
              <a:t>$4.41b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682496"/>
            <a:ext cx="18288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C6B79"/>
                </a:solidFill>
                <a:latin typeface="Arial"/>
              </a:rPr>
              <a:t>28.4%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14016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1D2733"/>
                </a:solidFill>
                <a:latin typeface="Arial"/>
              </a:rPr>
              <a:t>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39" y="2441448"/>
            <a:ext cx="5120640" cy="201168"/>
          </a:xfrm>
          <a:prstGeom prst="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39" y="2441448"/>
            <a:ext cx="3754886" cy="20116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9831" y="2404872"/>
            <a:ext cx="146304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D2733"/>
                </a:solidFill>
                <a:latin typeface="Arial"/>
              </a:rPr>
              <a:t>$5.87b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395728"/>
            <a:ext cx="18288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87E8B"/>
                </a:solidFill>
                <a:latin typeface="Arial"/>
              </a:rPr>
              <a:t>43.5% margin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27248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1D2733"/>
                </a:solidFill>
                <a:latin typeface="Arial"/>
              </a:rPr>
              <a:t>Upside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39" y="3154679"/>
            <a:ext cx="5120640" cy="201168"/>
          </a:xfrm>
          <a:prstGeom prst="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06039" y="3154679"/>
            <a:ext cx="4313949" cy="201168"/>
          </a:xfrm>
          <a:prstGeom prst="rect">
            <a:avLst/>
          </a:prstGeom>
          <a:solidFill>
            <a:srgbClr val="17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1" y="3118104"/>
            <a:ext cx="146304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D2733"/>
                </a:solidFill>
                <a:latin typeface="Arial"/>
              </a:rPr>
              <a:t>$6.74b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108960"/>
            <a:ext cx="18288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72B45"/>
                </a:solidFill>
                <a:latin typeface="Arial"/>
              </a:rPr>
              <a:t>48.8% margin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" y="4160520"/>
            <a:ext cx="1065276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72B45"/>
                </a:solidFill>
                <a:latin typeface="Arial"/>
              </a:rPr>
              <a:t>Base 2028: $6.33b revenue at 43.9% operating margin.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111496"/>
            <a:ext cx="73152" cy="7315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992624"/>
            <a:ext cx="10588752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1D2733"/>
                </a:solidFill>
                <a:latin typeface="Arial"/>
              </a:rPr>
              <a:t>Base keeps normal-quarter additions near 0.3m and deposits near $17.7b.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696712"/>
            <a:ext cx="73152" cy="7315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5577840"/>
            <a:ext cx="10588752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1D2733"/>
                </a:solidFill>
                <a:latin typeface="Arial"/>
              </a:rPr>
              <a:t>Options activity and balances carry growth; expense growth remains below revenue growth.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01400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2500" b="1">
                <a:solidFill>
                  <a:srgbClr val="172B45"/>
                </a:solidFill>
                <a:latin typeface="Arial"/>
              </a:rPr>
              <a:t>Transaction pricing and rate pass-through can move 2027 profit by hundreds of millions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201400" cy="18288"/>
          </a:xfrm>
          <a:prstGeom prst="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5C6B79"/>
                </a:solidFill>
                <a:latin typeface="Arial"/>
              </a:rPr>
              <a:t>Sources: defined 2027 Base shocks; rate audit against June 2026 10-Q disclosure.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83096"/>
            <a:ext cx="36576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C6B79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3383280" cy="1143000"/>
          </a:xfrm>
          <a:prstGeom prst="round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64208"/>
            <a:ext cx="30632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C6B79"/>
                </a:solidFill>
                <a:latin typeface="Arial"/>
              </a:rPr>
              <a:t>TRANSACTION PRICE -20%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929384"/>
            <a:ext cx="3063240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2300" b="1">
                <a:solidFill>
                  <a:srgbClr val="A93A3A"/>
                </a:solidFill>
                <a:latin typeface="Arial"/>
              </a:rPr>
              <a:t>-$613m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450591"/>
            <a:ext cx="30632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C6B79"/>
                </a:solidFill>
                <a:latin typeface="Arial"/>
              </a:rPr>
              <a:t>2027 revenue effect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572768"/>
            <a:ext cx="3383280" cy="1143000"/>
          </a:xfrm>
          <a:prstGeom prst="round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64208"/>
            <a:ext cx="30632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C6B79"/>
                </a:solidFill>
                <a:latin typeface="Arial"/>
              </a:rPr>
              <a:t>POLICY RATE -100 BP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29384"/>
            <a:ext cx="3063240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2300" b="1">
                <a:solidFill>
                  <a:srgbClr val="A93A3A"/>
                </a:solidFill>
                <a:latin typeface="Arial"/>
              </a:rPr>
              <a:t>-$265m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50591"/>
            <a:ext cx="30632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C6B79"/>
                </a:solidFill>
                <a:latin typeface="Arial"/>
              </a:rPr>
              <a:t>2027 revenue effect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7304" y="1572768"/>
            <a:ext cx="3383280" cy="1143000"/>
          </a:xfrm>
          <a:prstGeom prst="round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664208"/>
            <a:ext cx="30632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C6B79"/>
                </a:solidFill>
                <a:latin typeface="Arial"/>
              </a:rPr>
              <a:t>OPTIONS ACTIVITY -20%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929384"/>
            <a:ext cx="3063240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2300" b="1">
                <a:solidFill>
                  <a:srgbClr val="A93A3A"/>
                </a:solidFill>
                <a:latin typeface="Arial"/>
              </a:rPr>
              <a:t>-$264m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450591"/>
            <a:ext cx="30632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C6B79"/>
                </a:solidFill>
                <a:latin typeface="Arial"/>
              </a:rPr>
              <a:t>2027 operating-income effect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703320"/>
            <a:ext cx="5545164" cy="3200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4972" y="3703320"/>
            <a:ext cx="3849975" cy="320040"/>
          </a:xfrm>
          <a:prstGeom prst="rect">
            <a:avLst/>
          </a:prstGeom>
          <a:solidFill>
            <a:srgbClr val="17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144948" y="3703320"/>
            <a:ext cx="478592" cy="320040"/>
          </a:xfrm>
          <a:prstGeom prst="rect">
            <a:avLst/>
          </a:prstGeom>
          <a:solidFill>
            <a:srgbClr val="5C6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623540" y="3703320"/>
            <a:ext cx="733307" cy="320040"/>
          </a:xfrm>
          <a:prstGeom prst="rect">
            <a:avLst/>
          </a:prstGeom>
          <a:solidFill>
            <a:srgbClr val="B9C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151376"/>
            <a:ext cx="1069848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172B45"/>
                </a:solidFill>
                <a:latin typeface="Arial"/>
              </a:rPr>
              <a:t>2027 Base mix: 52% market activity · 36% interest/balance · 4.5% Gold · 6.9% unclassified.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166360"/>
            <a:ext cx="10698480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C6B79"/>
                </a:solidFill>
                <a:latin typeface="Arial"/>
              </a:rPr>
              <a:t>The $899m all-component +100 bp yield stress includes Cash Sweep. It is not the policy-rate case; Robinhood excludes sweep from its disclosed short-term rate sensitivity.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01400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2500" b="1">
                <a:solidFill>
                  <a:srgbClr val="172B45"/>
                </a:solidFill>
                <a:latin typeface="Arial"/>
              </a:rPr>
              <a:t>Each growth path needs a different operating condition; none has public-data initiative ROI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201400" cy="18288"/>
          </a:xfrm>
          <a:prstGeom prst="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5C6B79"/>
                </a:solidFill>
                <a:latin typeface="Arial"/>
              </a:rPr>
              <a:t>Sources: audited decision thresholds and defined sensitivities; no product ROI is inferred.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83096"/>
            <a:ext cx="36576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C6B79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10835640" cy="1234440"/>
          </a:xfrm>
          <a:prstGeom prst="round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709928"/>
            <a:ext cx="36576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72B45"/>
                </a:solidFill>
                <a:latin typeface="Arial"/>
              </a:rPr>
              <a:t>Customer &amp; asset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1709928"/>
            <a:ext cx="6547104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087E8B"/>
                </a:solidFill>
                <a:latin typeface="Arial"/>
              </a:rPr>
              <a:t>+$37m revenue at +25% net additions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240280"/>
            <a:ext cx="10241280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1D2733"/>
                </a:solidFill>
                <a:latin typeface="Arial"/>
              </a:rPr>
              <a:t>Additional customers must monetize beyond near-term marketing costs.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017520"/>
            <a:ext cx="10835640" cy="1234440"/>
          </a:xfrm>
          <a:prstGeom prst="round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127248"/>
            <a:ext cx="36576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72B45"/>
                </a:solidFill>
                <a:latin typeface="Arial"/>
              </a:rPr>
              <a:t>Transaction engagement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3127248"/>
            <a:ext cx="6547104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087E8B"/>
                </a:solidFill>
                <a:latin typeface="Arial"/>
              </a:rPr>
              <a:t>+$274m revenue at +20% options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657600"/>
            <a:ext cx="10241280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1D2733"/>
                </a:solidFill>
                <a:latin typeface="Arial"/>
              </a:rPr>
              <a:t>28.7 options contracts/customer offsets a modeled -50 bp rate case.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34840"/>
            <a:ext cx="10835640" cy="1234440"/>
          </a:xfrm>
          <a:prstGeom prst="round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4544568"/>
            <a:ext cx="36576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72B45"/>
                </a:solidFill>
                <a:latin typeface="Arial"/>
              </a:rPr>
              <a:t>Balance / Gold monetization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4544568"/>
            <a:ext cx="6547104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087E8B"/>
                </a:solidFill>
                <a:latin typeface="Arial"/>
              </a:rPr>
              <a:t>+$85m revenue at +50% cash capture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5074920"/>
            <a:ext cx="10241280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1D2733"/>
                </a:solidFill>
                <a:latin typeface="Arial"/>
              </a:rPr>
              <a:t>Net yield and captured earning balances must persist; Gold remains modest.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A93A3A"/>
                </a:solidFill>
                <a:latin typeface="Arial"/>
              </a:rPr>
              <a:t>A $69.9b quarterly deposit threshold to offset -10% transaction pricing is outside recent history.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01400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2500" b="1">
                <a:solidFill>
                  <a:srgbClr val="172B45"/>
                </a:solidFill>
                <a:latin typeface="Arial"/>
              </a:rPr>
              <a:t>Protect monetization, deepen earning balances, and gate spend to realized profit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201400" cy="18288"/>
          </a:xfrm>
          <a:prstGeom prst="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5C6B79"/>
                </a:solidFill>
                <a:latin typeface="Arial"/>
              </a:rPr>
              <a:t>Sources: management memo, CFO challenge, audited model. Independent portfolio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83096"/>
            <a:ext cx="36576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C6B79"/>
                </a:solidFill>
                <a:latin typeface="Arial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655064"/>
            <a:ext cx="73152" cy="7315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10588752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1D2733"/>
                </a:solidFill>
                <a:latin typeface="Arial"/>
              </a:rPr>
              <a:t>1. Protect trading engagement and realized monetization, especially options, while planning for activity swings.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350008"/>
            <a:ext cx="73152" cy="7315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31136"/>
            <a:ext cx="10588752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1D2733"/>
                </a:solidFill>
                <a:latin typeface="Arial"/>
              </a:rPr>
              <a:t>2. Turn deposits into earning balances and deepen Gold relationships, with net spread and credit-loss discipline.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044951"/>
            <a:ext cx="73152" cy="7315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26079"/>
            <a:ext cx="10588752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1D2733"/>
                </a:solidFill>
                <a:latin typeface="Arial"/>
              </a:rPr>
              <a:t>3. Gate technology, marketing, and general spending against realized revenue and operating-profit conversion.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13632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72B45"/>
                </a:solidFill>
                <a:latin typeface="Arial"/>
              </a:rPr>
              <a:t>Two risks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89120"/>
            <a:ext cx="73152" cy="7315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270248"/>
            <a:ext cx="10497311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A93A3A"/>
                </a:solidFill>
                <a:latin typeface="Arial"/>
              </a:rPr>
              <a:t>Transaction activity and blended crypto monetization can normalize faster than the Base Case.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983480"/>
            <a:ext cx="73152" cy="7315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864608"/>
            <a:ext cx="10497311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A93A3A"/>
                </a:solidFill>
                <a:latin typeface="Arial"/>
              </a:rPr>
              <a:t>Lower realized interest yields or faster credit and fixed-cost growth can erase operating leverage.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32704"/>
            <a:ext cx="1069848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87E8B"/>
                </a:solidFill>
                <a:latin typeface="Arial"/>
              </a:rPr>
              <a:t>Monitor additions; deposit capture; options units/pricing; crypto bps; net yield and expense/revenue.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Robinhood Strategic Finance &amp; Operating Model</dc:title>
  <dc:subject>Public-data strategic finance analysis; cutoff 2026-09-28</dc:subject>
  <dc:creator>Independent portfolio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